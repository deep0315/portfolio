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DF9F9-5536-17F0-889C-A2238FBDB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17E36F-C41A-15D1-49AA-9550F8745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37DA05-1898-C337-421A-A78BA4DD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810A83-2D3B-33E2-DFB7-3F8DFAED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E641EE-1B17-01B5-0411-10B34D52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92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0FC92-1812-A0B7-C0C2-B619CD64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ABCC53-E5BE-AB88-C579-28B9127EF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CBA9AD-FD2B-FCCE-E085-FD4111E4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59731-8BBB-81E9-35DB-8C4E83A4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0362B0-A866-5F57-6473-E3DF646F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11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96937-C7FF-934C-4036-304067EC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DCDEE1-0089-2043-524A-9DC8EE8AA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CAE946-25AD-70E2-9F1E-3D0F03C4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79B57B-CEF8-585F-CFAA-7748E143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11B653-8BC1-DE61-7BB9-01F6E80D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37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40AC0-10F9-BDFB-F6C9-497ABA66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2543EB-2450-2D34-35AF-C8778914D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81CD7A-3165-0B16-EBEF-011BA210E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A9A5D6-F28B-E84F-336D-5818C3AC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E00B6F-DD61-BF92-0BC9-3BDF458B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970532-44F1-2AE0-A2EB-604D0AEB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53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C8716-7015-78A0-231C-68C122C3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6C9224-57B1-1BC6-25E4-4E6D38999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61ADB0-509E-7322-C67D-8F96E3070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CBD9BD-C012-128E-0EA6-1361AA2F8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BB717B5-CB73-5BB1-B29E-244AA1E72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DF62B1B-A630-DF77-D408-84611257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A5F7F92-9A0F-B50C-FF2A-A2D8B66F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8D75917-B149-206E-FC21-3AC3209E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42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EA043-B402-162A-B20B-190FA415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C37EE5-9F9B-351A-15F6-55EB7DD8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A02EE5-FEC0-40AD-23E1-6D4F6783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A83ACB-B402-35A3-D54A-68F69C0D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26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871304-ED14-5007-1559-83AFEADE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52F9EE-3F86-4274-F39A-0FF9C5F4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2B0779-0906-7780-9342-683E1929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96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148D1-711F-D7FE-46E7-2E2E7847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B45E8A-A9E6-DACF-46AD-890F7D5B0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E6F8B4-1E6C-FD62-5065-5789A2B40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AB138F-9E64-9338-5574-A0673074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2CC158-59DB-443A-5C54-9CB1052E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123641-09DF-043C-ACB3-8FEC5379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8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82060-D777-B759-26DF-9B9A193FE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10159A-2D8E-FB74-7515-B83B31114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F95BA0-0B3C-4116-4DA8-7BC4B22B4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30180C-E096-1A23-095D-5710DE8F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F1DF74-F224-ACD1-E710-3FD27BFA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A1366D-BDBC-A08F-53D6-E5820B4A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B2688-4CF8-56DC-E088-B045DD33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929922-E225-577C-9EBB-AE54A3996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3AD391-7362-46BF-4B1A-AA218C79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80A0A1-0578-BA28-21CA-A2C88665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306D9-131F-451D-327D-6F0A487E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949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7CFC0DE-E352-9D04-A7BC-3F041F5E6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8B31695-0E3F-9F9B-DF6B-B097A619C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C1A203-81ED-CFB3-6467-2FA1B930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37A2AF-0902-04E1-6628-401DD007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7A270B-A651-2123-EE20-AD9A32F3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91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03A0BBE-3576-838E-6816-1FCD7643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B91F00-1999-6ECB-B0FD-43CADBAD3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11FE38-B808-54F6-67A4-5C56185CC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1396D-E95C-450D-860E-98387CA82AA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632C55-1985-74D2-E8D0-195CB7811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D9E19A-4CA5-58E9-DA48-13B20F324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A8BB8-A210-4F6B-96C8-9582D00AD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83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77649-F217-BDF8-2C79-A2BB48BFC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329" y="1851009"/>
            <a:ext cx="9065342" cy="3508631"/>
          </a:xfrm>
        </p:spPr>
        <p:txBody>
          <a:bodyPr>
            <a:noAutofit/>
          </a:bodyPr>
          <a:lstStyle/>
          <a:p>
            <a:r>
              <a:rPr lang="fr-FR" sz="2800" dirty="0">
                <a:latin typeface="Arial Black" panose="020B0A04020102020204" pitchFamily="34" charset="0"/>
              </a:rPr>
              <a:t>PGI Pro</a:t>
            </a: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Progiciel de Gestion Intégré Web</a:t>
            </a:r>
            <a:br>
              <a:rPr lang="fr-FR" sz="2800" dirty="0">
                <a:latin typeface="Arial Black" panose="020B0A04020102020204" pitchFamily="34" charset="0"/>
              </a:rPr>
            </a:b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─────────────────────────────</a:t>
            </a:r>
            <a:br>
              <a:rPr lang="fr-FR" sz="2800" dirty="0">
                <a:latin typeface="Arial Black" panose="020B0A04020102020204" pitchFamily="34" charset="0"/>
              </a:rPr>
            </a:b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Par : Ilies HAMADENE &amp; Alexis LACOMBE</a:t>
            </a:r>
            <a:br>
              <a:rPr lang="fr-FR" sz="2800" dirty="0">
                <a:latin typeface="Arial Black" panose="020B0A04020102020204" pitchFamily="34" charset="0"/>
              </a:rPr>
            </a:b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Formation : Introduction aux Systèmes d'Information</a:t>
            </a: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Université Paris Nanterre</a:t>
            </a:r>
            <a:br>
              <a:rPr lang="fr-FR" sz="2800" dirty="0">
                <a:latin typeface="Arial Black" panose="020B0A04020102020204" pitchFamily="34" charset="0"/>
              </a:rPr>
            </a:br>
            <a:br>
              <a:rPr lang="fr-FR" sz="2800" dirty="0">
                <a:latin typeface="Arial Black" panose="020B0A04020102020204" pitchFamily="34" charset="0"/>
              </a:rPr>
            </a:br>
            <a:r>
              <a:rPr lang="fr-FR" sz="2800" dirty="0">
                <a:latin typeface="Arial Black" panose="020B0A04020102020204" pitchFamily="34" charset="0"/>
              </a:rPr>
              <a:t>Novembre 2025</a:t>
            </a:r>
          </a:p>
        </p:txBody>
      </p:sp>
    </p:spTree>
    <p:extLst>
      <p:ext uri="{BB962C8B-B14F-4D97-AF65-F5344CB8AC3E}">
        <p14:creationId xmlns:p14="http://schemas.microsoft.com/office/powerpoint/2010/main" val="23437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9AAED-E831-2719-6EBC-62F0A888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57688"/>
            <a:ext cx="10515600" cy="718830"/>
          </a:xfrm>
        </p:spPr>
        <p:txBody>
          <a:bodyPr>
            <a:normAutofit fontScale="90000"/>
          </a:bodyPr>
          <a:lstStyle/>
          <a:p>
            <a:r>
              <a:rPr lang="fr-FR" dirty="0"/>
              <a:t>🎯 CONTEXTE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D3BE3E-208E-FE60-E62C-E873338D4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4480"/>
            <a:ext cx="10515600" cy="4305546"/>
          </a:xfrm>
        </p:spPr>
        <p:txBody>
          <a:bodyPr>
            <a:normAutofit fontScale="70000" lnSpcReduction="20000"/>
          </a:bodyPr>
          <a:lstStyle/>
          <a:p>
            <a:r>
              <a:rPr lang="fr-FR" dirty="0">
                <a:solidFill>
                  <a:schemeClr val="tx1"/>
                </a:solidFill>
              </a:rPr>
              <a:t>PROBLÉMATIQUE </a:t>
            </a:r>
          </a:p>
          <a:p>
            <a:r>
              <a:rPr lang="fr-FR" dirty="0">
                <a:solidFill>
                  <a:schemeClr val="tx1"/>
                </a:solidFill>
              </a:rPr>
              <a:t>- Les PME ont besoin d'outils de gestion centralisés </a:t>
            </a:r>
          </a:p>
          <a:p>
            <a:r>
              <a:rPr lang="fr-FR" dirty="0">
                <a:solidFill>
                  <a:schemeClr val="tx1"/>
                </a:solidFill>
              </a:rPr>
              <a:t>- Solutions du marché souvent coûteuses ou complexes </a:t>
            </a:r>
          </a:p>
          <a:p>
            <a:r>
              <a:rPr lang="fr-FR" dirty="0">
                <a:solidFill>
                  <a:schemeClr val="tx1"/>
                </a:solidFill>
              </a:rPr>
              <a:t>- Nécessité d'une solution simple et accessible </a:t>
            </a:r>
          </a:p>
          <a:p>
            <a:pPr marL="342900" indent="-342900">
              <a:buFontTx/>
              <a:buChar char="-"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OBJECTIF </a:t>
            </a:r>
          </a:p>
          <a:p>
            <a:r>
              <a:rPr lang="fr-FR" dirty="0">
                <a:solidFill>
                  <a:schemeClr val="tx1"/>
                </a:solidFill>
              </a:rPr>
              <a:t>✓ Créer un PGI web simple et fonctionnel </a:t>
            </a:r>
          </a:p>
          <a:p>
            <a:r>
              <a:rPr lang="fr-FR" dirty="0">
                <a:solidFill>
                  <a:schemeClr val="tx1"/>
                </a:solidFill>
              </a:rPr>
              <a:t>✓ Gérer 4 modules : Stocks, Achats, Ventes, RH </a:t>
            </a:r>
          </a:p>
          <a:p>
            <a:r>
              <a:rPr lang="fr-FR" dirty="0">
                <a:solidFill>
                  <a:schemeClr val="tx1"/>
                </a:solidFill>
              </a:rPr>
              <a:t>✓ Interface intuitive et ergonomique</a:t>
            </a:r>
          </a:p>
          <a:p>
            <a:pPr marL="342900" indent="-342900">
              <a:buFontTx/>
              <a:buChar char="-"/>
            </a:pP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APPROCHE </a:t>
            </a:r>
          </a:p>
          <a:p>
            <a:r>
              <a:rPr lang="fr-FR" dirty="0">
                <a:solidFill>
                  <a:schemeClr val="tx1"/>
                </a:solidFill>
              </a:rPr>
              <a:t>→ Méthodologie structurée et rigoureuse </a:t>
            </a:r>
          </a:p>
          <a:p>
            <a:r>
              <a:rPr lang="fr-FR" dirty="0">
                <a:solidFill>
                  <a:schemeClr val="tx1"/>
                </a:solidFill>
              </a:rPr>
              <a:t>→ Documentation complète </a:t>
            </a:r>
          </a:p>
          <a:p>
            <a:r>
              <a:rPr lang="fr-FR" dirty="0">
                <a:solidFill>
                  <a:schemeClr val="tx1"/>
                </a:solidFill>
              </a:rPr>
              <a:t>→ Standards professionnels</a:t>
            </a:r>
          </a:p>
        </p:txBody>
      </p:sp>
    </p:spTree>
    <p:extLst>
      <p:ext uri="{BB962C8B-B14F-4D97-AF65-F5344CB8AC3E}">
        <p14:creationId xmlns:p14="http://schemas.microsoft.com/office/powerpoint/2010/main" val="388408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2AF69-5B6D-EEFB-A461-580AFBB4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274320"/>
            <a:ext cx="10515600" cy="1219835"/>
          </a:xfrm>
        </p:spPr>
        <p:txBody>
          <a:bodyPr/>
          <a:lstStyle/>
          <a:p>
            <a:r>
              <a:rPr lang="fr-FR" dirty="0"/>
              <a:t>📋 </a:t>
            </a:r>
            <a:r>
              <a:rPr lang="fr-FR" sz="5400" dirty="0"/>
              <a:t>MÉTHODOLOGIE</a:t>
            </a:r>
            <a:r>
              <a:rPr lang="fr-FR" dirty="0"/>
              <a:t>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DB8A0F-38A1-CDCB-97B0-D971FDEF0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94155"/>
            <a:ext cx="10515600" cy="4595495"/>
          </a:xfrm>
        </p:spPr>
        <p:txBody>
          <a:bodyPr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1. </a:t>
            </a:r>
            <a:r>
              <a:rPr lang="fr-FR" dirty="0"/>
              <a:t>🔍 </a:t>
            </a:r>
            <a:r>
              <a:rPr lang="fr-FR" dirty="0">
                <a:solidFill>
                  <a:schemeClr val="tx1"/>
                </a:solidFill>
              </a:rPr>
              <a:t>ANALYSE </a:t>
            </a:r>
          </a:p>
          <a:p>
            <a:r>
              <a:rPr lang="fr-FR" dirty="0">
                <a:solidFill>
                  <a:schemeClr val="tx1"/>
                </a:solidFill>
              </a:rPr>
              <a:t>2. </a:t>
            </a:r>
            <a:r>
              <a:rPr lang="fr-FR" dirty="0"/>
              <a:t>📐 </a:t>
            </a:r>
            <a:r>
              <a:rPr lang="fr-FR" dirty="0">
                <a:solidFill>
                  <a:schemeClr val="tx1"/>
                </a:solidFill>
              </a:rPr>
              <a:t>CONCEPTION </a:t>
            </a:r>
          </a:p>
          <a:p>
            <a:r>
              <a:rPr lang="fr-FR" dirty="0">
                <a:solidFill>
                  <a:schemeClr val="tx1"/>
                </a:solidFill>
              </a:rPr>
              <a:t>3. </a:t>
            </a:r>
            <a:r>
              <a:rPr lang="fr-FR" dirty="0"/>
              <a:t>💻 </a:t>
            </a:r>
            <a:r>
              <a:rPr lang="fr-FR" dirty="0">
                <a:solidFill>
                  <a:schemeClr val="tx1"/>
                </a:solidFill>
              </a:rPr>
              <a:t>DÉVELOPPEMENT </a:t>
            </a:r>
          </a:p>
          <a:p>
            <a:r>
              <a:rPr lang="fr-FR" dirty="0">
                <a:solidFill>
                  <a:schemeClr val="tx1"/>
                </a:solidFill>
              </a:rPr>
              <a:t>4. </a:t>
            </a:r>
            <a:r>
              <a:rPr lang="fr-FR" dirty="0"/>
              <a:t>🧪 </a:t>
            </a:r>
            <a:r>
              <a:rPr lang="fr-FR" dirty="0">
                <a:solidFill>
                  <a:schemeClr val="tx1"/>
                </a:solidFill>
              </a:rPr>
              <a:t>TESTS </a:t>
            </a:r>
          </a:p>
          <a:p>
            <a:r>
              <a:rPr lang="fr-FR" dirty="0">
                <a:solidFill>
                  <a:schemeClr val="tx1"/>
                </a:solidFill>
              </a:rPr>
              <a:t>5. </a:t>
            </a:r>
            <a:r>
              <a:rPr lang="fr-FR" dirty="0"/>
              <a:t>📚 </a:t>
            </a:r>
            <a:r>
              <a:rPr lang="fr-FR" dirty="0">
                <a:solidFill>
                  <a:schemeClr val="tx1"/>
                </a:solidFill>
              </a:rPr>
              <a:t>DOCUMENTATION 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→ Approche rigoureuse et professionnelle </a:t>
            </a:r>
          </a:p>
          <a:p>
            <a:r>
              <a:rPr lang="fr-FR" dirty="0">
                <a:solidFill>
                  <a:schemeClr val="tx1"/>
                </a:solidFill>
              </a:rPr>
              <a:t>→ Traçabilité à chaque étape</a:t>
            </a:r>
          </a:p>
        </p:txBody>
      </p:sp>
    </p:spTree>
    <p:extLst>
      <p:ext uri="{BB962C8B-B14F-4D97-AF65-F5344CB8AC3E}">
        <p14:creationId xmlns:p14="http://schemas.microsoft.com/office/powerpoint/2010/main" val="363228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B6357-257E-187C-D028-7A14E076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8075"/>
          </a:xfrm>
        </p:spPr>
        <p:txBody>
          <a:bodyPr/>
          <a:lstStyle/>
          <a:p>
            <a:r>
              <a:rPr lang="fr-FR" dirty="0"/>
              <a:t>🔍 PHASE D'ANALYSE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66513A-0012-A179-F3CD-13F54CC4D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3240" y="1836420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📕 CAHIER DES CHARGES FONCTIONNEL </a:t>
            </a:r>
          </a:p>
          <a:p>
            <a:pPr marL="0" indent="0">
              <a:buNone/>
            </a:pPr>
            <a:r>
              <a:rPr lang="fr-FR" sz="1800" dirty="0"/>
              <a:t>• Besoins et contraintes </a:t>
            </a:r>
          </a:p>
          <a:p>
            <a:pPr marL="0" indent="0">
              <a:buNone/>
            </a:pPr>
            <a:r>
              <a:rPr lang="fr-FR" sz="1800" dirty="0"/>
              <a:t>• Utilisateurs cibles </a:t>
            </a:r>
          </a:p>
          <a:p>
            <a:pPr marL="0" indent="0">
              <a:buNone/>
            </a:pPr>
            <a:r>
              <a:rPr lang="fr-FR" sz="1800" dirty="0"/>
              <a:t>• Fonctionnalités principales </a:t>
            </a:r>
          </a:p>
          <a:p>
            <a:pPr marL="0" indent="0">
              <a:buNone/>
            </a:pPr>
            <a:r>
              <a:rPr lang="fr-FR" sz="1800" dirty="0"/>
              <a:t>• Périmètre du projet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843ED13-FAF9-C7EC-6B5A-A74F3CA3A6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93240" y="3853100"/>
            <a:ext cx="8150810" cy="2639775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A567455D-13A3-8780-8F84-BB3E44375654}"/>
              </a:ext>
            </a:extLst>
          </p:cNvPr>
          <p:cNvSpPr txBox="1">
            <a:spLocks/>
          </p:cNvSpPr>
          <p:nvPr/>
        </p:nvSpPr>
        <p:spPr>
          <a:xfrm>
            <a:off x="6498565" y="183642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📕 RAPPORT DE FAISABILITÉ</a:t>
            </a:r>
          </a:p>
          <a:p>
            <a:pPr marL="0" indent="0">
              <a:buNone/>
            </a:pPr>
            <a:r>
              <a:rPr lang="fr-FR" sz="1800" dirty="0"/>
              <a:t>✓ Faisabilité technique</a:t>
            </a:r>
          </a:p>
          <a:p>
            <a:pPr marL="0" indent="0">
              <a:buNone/>
            </a:pPr>
            <a:r>
              <a:rPr lang="fr-FR" sz="1800" dirty="0"/>
              <a:t>✓ Faisabilité économique</a:t>
            </a:r>
          </a:p>
          <a:p>
            <a:pPr marL="0" indent="0">
              <a:buNone/>
            </a:pPr>
            <a:r>
              <a:rPr lang="fr-FR" sz="1800" dirty="0"/>
              <a:t>✓ Faisabilité organisationnelle</a:t>
            </a:r>
          </a:p>
          <a:p>
            <a:pPr marL="0" indent="0">
              <a:buNone/>
            </a:pPr>
            <a:r>
              <a:rPr lang="fr-FR" sz="1800" dirty="0"/>
              <a:t>✓ Faisabilité temporelle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15708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9F13A-278B-DB9C-80E4-F0C356AB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📐 PHASE DE 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7A9D8-4F89-4262-7043-69CBF5197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880" y="1875328"/>
            <a:ext cx="5181600" cy="1689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📝 SFG</a:t>
            </a:r>
          </a:p>
          <a:p>
            <a:pPr marL="0" indent="0">
              <a:buNone/>
            </a:pPr>
            <a:r>
              <a:rPr lang="fr-FR" sz="2000" dirty="0"/>
              <a:t>• Vue d'ensemble </a:t>
            </a:r>
          </a:p>
          <a:p>
            <a:pPr marL="0" indent="0">
              <a:buNone/>
            </a:pPr>
            <a:r>
              <a:rPr lang="fr-FR" sz="2000" dirty="0"/>
              <a:t>• Acteurs et rôles</a:t>
            </a:r>
          </a:p>
          <a:p>
            <a:pPr marL="0" indent="0">
              <a:buNone/>
            </a:pPr>
            <a:r>
              <a:rPr lang="fr-FR" sz="2000" dirty="0"/>
              <a:t>• Modules principaux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700BEE-C30C-EF62-E658-ED9135BF5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" y="3857303"/>
            <a:ext cx="5181600" cy="259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Diagramme de Cas d'Utilisation :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26DE2D1-C74C-27A8-96C3-91E510D5D535}"/>
              </a:ext>
            </a:extLst>
          </p:cNvPr>
          <p:cNvSpPr txBox="1">
            <a:spLocks/>
          </p:cNvSpPr>
          <p:nvPr/>
        </p:nvSpPr>
        <p:spPr>
          <a:xfrm>
            <a:off x="838200" y="3515360"/>
            <a:ext cx="5181600" cy="2661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sz="2000" dirty="0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ECD071F3-6717-9D22-ADF2-70785D9D7DE8}"/>
              </a:ext>
            </a:extLst>
          </p:cNvPr>
          <p:cNvSpPr txBox="1">
            <a:spLocks/>
          </p:cNvSpPr>
          <p:nvPr/>
        </p:nvSpPr>
        <p:spPr>
          <a:xfrm>
            <a:off x="7239000" y="1918509"/>
            <a:ext cx="5181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📝 </a:t>
            </a:r>
            <a:r>
              <a:rPr lang="fr-FR" sz="2000" dirty="0"/>
              <a:t>SFD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• Fonctionnalités précises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• Champs et validations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• Règles de gestion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636CE-D375-784D-2902-5B340FC41EF2}"/>
              </a:ext>
            </a:extLst>
          </p:cNvPr>
          <p:cNvSpPr txBox="1"/>
          <p:nvPr/>
        </p:nvSpPr>
        <p:spPr>
          <a:xfrm>
            <a:off x="4556760" y="3532044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MODÉLISATION UML</a:t>
            </a:r>
          </a:p>
        </p:txBody>
      </p:sp>
      <p:pic>
        <p:nvPicPr>
          <p:cNvPr id="9" name="Image 8" descr="Une image contenant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E269FA-8358-E1D0-6D0D-E3AC54C17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522" y="4243626"/>
            <a:ext cx="3474719" cy="2485144"/>
          </a:xfrm>
          <a:prstGeom prst="rect">
            <a:avLst/>
          </a:prstGeom>
        </p:spPr>
      </p:pic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FD302E7B-5151-887B-80A1-BD9DBADE2223}"/>
              </a:ext>
            </a:extLst>
          </p:cNvPr>
          <p:cNvSpPr txBox="1">
            <a:spLocks/>
          </p:cNvSpPr>
          <p:nvPr/>
        </p:nvSpPr>
        <p:spPr>
          <a:xfrm>
            <a:off x="6849643" y="3857360"/>
            <a:ext cx="5181600" cy="2821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Diagramme de Classes :</a:t>
            </a:r>
          </a:p>
        </p:txBody>
      </p:sp>
      <p:pic>
        <p:nvPicPr>
          <p:cNvPr id="12" name="Image 11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A1D17D4-0B89-507D-FAE3-4C5A85F0E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442" y="4243626"/>
            <a:ext cx="3731669" cy="249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7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5AFCC-A3E8-5B95-EE69-35976F6F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🏗️ PHASE DE RÉALISATION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DE1788-0334-CECF-3166-C316B4056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82729" cy="2077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📘 DOSSIER TECHNIQUE</a:t>
            </a:r>
          </a:p>
          <a:p>
            <a:pPr marL="0" indent="0">
              <a:buNone/>
            </a:pPr>
            <a:r>
              <a:rPr lang="fr-FR" sz="2000" dirty="0"/>
              <a:t>• Architecture du système</a:t>
            </a:r>
          </a:p>
          <a:p>
            <a:pPr marL="0" indent="0">
              <a:buNone/>
            </a:pPr>
            <a:r>
              <a:rPr lang="fr-FR" sz="2000" dirty="0"/>
              <a:t>• Technologies </a:t>
            </a:r>
          </a:p>
          <a:p>
            <a:pPr marL="0" indent="0">
              <a:buNone/>
            </a:pPr>
            <a:r>
              <a:rPr lang="fr-FR" sz="2000" dirty="0"/>
              <a:t>• Structure du code source</a:t>
            </a:r>
          </a:p>
          <a:p>
            <a:pPr marL="0" indent="0">
              <a:buNone/>
            </a:pPr>
            <a:r>
              <a:rPr lang="fr-FR" sz="2000" dirty="0"/>
              <a:t>• Gestion des données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64EE28-0057-D2EF-39E1-B5256969A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90503" y="1825624"/>
            <a:ext cx="5181600" cy="2077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📊 PLAN DE GESTION DE PROJET</a:t>
            </a:r>
          </a:p>
          <a:p>
            <a:pPr marL="0" indent="0">
              <a:buNone/>
            </a:pPr>
            <a:r>
              <a:rPr lang="fr-FR" sz="2000" dirty="0"/>
              <a:t>• Organisation et rôles</a:t>
            </a:r>
          </a:p>
          <a:p>
            <a:pPr marL="0" indent="0">
              <a:buNone/>
            </a:pPr>
            <a:r>
              <a:rPr lang="fr-FR" sz="2000" dirty="0"/>
              <a:t>• Jalons et planning</a:t>
            </a:r>
          </a:p>
          <a:p>
            <a:pPr marL="0" indent="0">
              <a:buNone/>
            </a:pPr>
            <a:r>
              <a:rPr lang="fr-FR" sz="2000" dirty="0"/>
              <a:t>• Gestion des risques</a:t>
            </a:r>
          </a:p>
          <a:p>
            <a:pPr marL="0" indent="0">
              <a:buNone/>
            </a:pPr>
            <a:r>
              <a:rPr lang="fr-FR" sz="2000" dirty="0"/>
              <a:t>• Suivi d'avancement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E7839AAE-8DB9-3DB8-74F7-6D6F8AEA3308}"/>
              </a:ext>
            </a:extLst>
          </p:cNvPr>
          <p:cNvSpPr txBox="1">
            <a:spLocks/>
          </p:cNvSpPr>
          <p:nvPr/>
        </p:nvSpPr>
        <p:spPr>
          <a:xfrm>
            <a:off x="4626077" y="4038341"/>
            <a:ext cx="5181600" cy="2077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🧪 PLAN DE TEST</a:t>
            </a:r>
          </a:p>
          <a:p>
            <a:pPr marL="0" indent="0">
              <a:buNone/>
            </a:pPr>
            <a:r>
              <a:rPr lang="fr-FR" sz="2000" dirty="0"/>
              <a:t>• 16 cas de test</a:t>
            </a:r>
          </a:p>
          <a:p>
            <a:pPr marL="0" indent="0">
              <a:buNone/>
            </a:pPr>
            <a:r>
              <a:rPr lang="fr-FR" sz="2000" dirty="0"/>
              <a:t>• Tous les modules validés</a:t>
            </a:r>
          </a:p>
          <a:p>
            <a:pPr marL="0" indent="0">
              <a:buNone/>
            </a:pPr>
            <a:r>
              <a:rPr lang="fr-FR" sz="2000" dirty="0"/>
              <a:t>• Taux de réussite : 100% ✓</a:t>
            </a:r>
          </a:p>
        </p:txBody>
      </p:sp>
    </p:spTree>
    <p:extLst>
      <p:ext uri="{BB962C8B-B14F-4D97-AF65-F5344CB8AC3E}">
        <p14:creationId xmlns:p14="http://schemas.microsoft.com/office/powerpoint/2010/main" val="70247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2BEAD-7939-BB6B-CC86-1235EF36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📚 SYNTHÈSE DES LIVRABLES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B4AD5-A960-DA64-CDB3-9F20D9C4F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DOCUMENTATION COMPLÈTE DU PROJET </a:t>
            </a:r>
            <a:br>
              <a:rPr lang="fr-FR" dirty="0"/>
            </a:br>
            <a:r>
              <a:rPr lang="fr-FR" dirty="0"/>
              <a:t>✓ Cahier des Charges Fonctionnel </a:t>
            </a:r>
            <a:br>
              <a:rPr lang="fr-FR" dirty="0"/>
            </a:br>
            <a:r>
              <a:rPr lang="fr-FR" dirty="0"/>
              <a:t>✓ Rapport de Faisabilité </a:t>
            </a:r>
            <a:br>
              <a:rPr lang="fr-FR" dirty="0"/>
            </a:br>
            <a:r>
              <a:rPr lang="fr-FR" dirty="0"/>
              <a:t>✓ Spécifications Fonctionnelles Générales (SFG) </a:t>
            </a:r>
            <a:br>
              <a:rPr lang="fr-FR" dirty="0"/>
            </a:br>
            <a:r>
              <a:rPr lang="fr-FR" dirty="0"/>
              <a:t>✓ Spécifications Fonctionnelles Détaillées (SFD) </a:t>
            </a:r>
            <a:br>
              <a:rPr lang="fr-FR" dirty="0"/>
            </a:br>
            <a:r>
              <a:rPr lang="fr-FR" dirty="0"/>
              <a:t>✓ Dossier Technique </a:t>
            </a:r>
            <a:br>
              <a:rPr lang="fr-FR" dirty="0"/>
            </a:br>
            <a:r>
              <a:rPr lang="fr-FR" dirty="0"/>
              <a:t>✓ Plan de Gestion de Projet </a:t>
            </a:r>
            <a:br>
              <a:rPr lang="fr-FR" dirty="0"/>
            </a:br>
            <a:r>
              <a:rPr lang="fr-FR" dirty="0"/>
              <a:t>✓ Plan de Test </a:t>
            </a:r>
            <a:br>
              <a:rPr lang="fr-FR" dirty="0"/>
            </a:br>
            <a:r>
              <a:rPr lang="fr-FR" dirty="0"/>
              <a:t>✓ Diagramme de Cas d'Utilisation (UML) </a:t>
            </a:r>
            <a:br>
              <a:rPr lang="fr-FR" dirty="0"/>
            </a:br>
            <a:r>
              <a:rPr lang="fr-FR" dirty="0"/>
              <a:t>✓ Diagramme de Classes (UML) </a:t>
            </a:r>
          </a:p>
          <a:p>
            <a:pPr marL="0" indent="0">
              <a:buNone/>
            </a:pPr>
            <a:r>
              <a:rPr lang="fr-FR" dirty="0"/>
              <a:t>──────────────────────────────────── </a:t>
            </a:r>
          </a:p>
          <a:p>
            <a:pPr marL="0" indent="0">
              <a:buNone/>
            </a:pPr>
            <a:r>
              <a:rPr lang="fr-FR" dirty="0"/>
              <a:t>9 DOCUMENTS PROFESSIONNELS </a:t>
            </a:r>
            <a:br>
              <a:rPr lang="fr-FR" dirty="0"/>
            </a:br>
            <a:r>
              <a:rPr lang="fr-FR" dirty="0"/>
              <a:t>→ Documentation traçable et maintenable </a:t>
            </a:r>
            <a:br>
              <a:rPr lang="fr-FR" dirty="0"/>
            </a:br>
            <a:r>
              <a:rPr lang="fr-FR" dirty="0"/>
              <a:t>→ Standards professionnels respectés </a:t>
            </a:r>
            <a:br>
              <a:rPr lang="fr-FR" dirty="0"/>
            </a:br>
            <a:r>
              <a:rPr lang="fr-FR" dirty="0"/>
              <a:t>→ Cycle de vie complet documenté</a:t>
            </a:r>
          </a:p>
        </p:txBody>
      </p:sp>
    </p:spTree>
    <p:extLst>
      <p:ext uri="{BB962C8B-B14F-4D97-AF65-F5344CB8AC3E}">
        <p14:creationId xmlns:p14="http://schemas.microsoft.com/office/powerpoint/2010/main" val="38074245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370</Words>
  <Application>Microsoft Office PowerPoint</Application>
  <PresentationFormat>Grand écran</PresentationFormat>
  <Paragraphs>68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Black</vt:lpstr>
      <vt:lpstr>Thème Office</vt:lpstr>
      <vt:lpstr>PGI Pro Progiciel de Gestion Intégré Web  ─────────────────────────────  Par : Ilies HAMADENE &amp; Alexis LACOMBE  Formation : Introduction aux Systèmes d'Information Université Paris Nanterre  Novembre 2025</vt:lpstr>
      <vt:lpstr>🎯 CONTEXTE DU PROJET</vt:lpstr>
      <vt:lpstr>📋 MÉTHODOLOGIE DU PROJET</vt:lpstr>
      <vt:lpstr>🔍 PHASE D'ANALYSE</vt:lpstr>
      <vt:lpstr>📐 PHASE DE CONCEPTION</vt:lpstr>
      <vt:lpstr>🏗️ PHASE DE RÉALISATION</vt:lpstr>
      <vt:lpstr>📚 SYNTHÈSE DES LIVRABLES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Ilies Hamadene</dc:creator>
  <cp:lastModifiedBy>Ilies Hamadene</cp:lastModifiedBy>
  <cp:revision>1</cp:revision>
  <dcterms:created xsi:type="dcterms:W3CDTF">2025-11-23T22:17:12Z</dcterms:created>
  <dcterms:modified xsi:type="dcterms:W3CDTF">2025-11-23T23:08:22Z</dcterms:modified>
</cp:coreProperties>
</file>